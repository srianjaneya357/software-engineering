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94360"/>
            <a:ext cx="6492240" cy="5669280"/>
          </a:xfrm>
          <a:prstGeom prst="roundRect">
            <a:avLst/>
          </a:prstGeom>
          <a:solidFill>
            <a:srgbClr val="22193A"/>
          </a:solidFill>
          <a:ln w="19050">
            <a:solidFill>
              <a:srgbClr val="40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694881"/>
            <a:ext cx="5852160" cy="10951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C4B5FD"/>
                </a:solidFill>
                <a:latin typeface="Segoe UI"/>
              </a:defRPr>
            </a:pPr>
            <a:r>
              <a:rPr dirty="0"/>
              <a:t>SOFTWARE ENGINEERING ASSESSMENT 2</a:t>
            </a:r>
          </a:p>
          <a:p>
            <a:pPr algn="ctr">
              <a:spcBef>
                <a:spcPts val="6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AI-Powered Multilingual Learning Assistant for Mother Tongue-Based Primary Education</a:t>
            </a:r>
          </a:p>
          <a:p>
            <a:pPr algn="ctr">
              <a:spcBef>
                <a:spcPts val="800"/>
              </a:spcBef>
              <a:defRPr sz="950" b="1">
                <a:solidFill>
                  <a:srgbClr val="34D399"/>
                </a:solidFill>
                <a:latin typeface="Segoe UI"/>
              </a:defRPr>
            </a:pPr>
            <a:r>
              <a:rPr dirty="0"/>
              <a:t>METHODOLOGY: V-MODEL (VERIFICATION &amp; VALIDATION)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3931920"/>
            <a:ext cx="2788920" cy="640080"/>
          </a:xfrm>
          <a:prstGeom prst="roundRect">
            <a:avLst/>
          </a:prstGeom>
          <a:solidFill>
            <a:srgbClr val="18122A"/>
          </a:solidFill>
          <a:ln w="12700">
            <a:solidFill>
              <a:srgbClr val="40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l">
              <a:defRPr sz="800" b="1">
                <a:solidFill>
                  <a:srgbClr val="A78BFA"/>
                </a:solidFill>
                <a:latin typeface="Segoe UI"/>
              </a:defRPr>
            </a:pPr>
            <a:r>
              <a:rPr dirty="0"/>
              <a:t>STUDENT NAME</a:t>
            </a:r>
          </a:p>
          <a:p>
            <a:pPr algn="l">
              <a:spcBef>
                <a:spcPts val="1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rPr lang="en-US" dirty="0" err="1"/>
              <a:t>Joanswa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114800" y="3931920"/>
            <a:ext cx="2788920" cy="640080"/>
          </a:xfrm>
          <a:prstGeom prst="roundRect">
            <a:avLst/>
          </a:prstGeom>
          <a:solidFill>
            <a:srgbClr val="18122A"/>
          </a:solidFill>
          <a:ln w="12700">
            <a:solidFill>
              <a:srgbClr val="40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l">
              <a:defRPr sz="800" b="1">
                <a:solidFill>
                  <a:srgbClr val="A78BFA"/>
                </a:solidFill>
                <a:latin typeface="Segoe UI"/>
              </a:defRPr>
            </a:pPr>
            <a:r>
              <a:rPr dirty="0"/>
              <a:t>ROLL NUMBER</a:t>
            </a:r>
          </a:p>
          <a:p>
            <a:pPr algn="l">
              <a:spcBef>
                <a:spcPts val="1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192572136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1051560" y="4727448"/>
            <a:ext cx="2788920" cy="640080"/>
          </a:xfrm>
          <a:prstGeom prst="roundRect">
            <a:avLst/>
          </a:prstGeom>
          <a:solidFill>
            <a:srgbClr val="18122A"/>
          </a:solidFill>
          <a:ln w="12700">
            <a:solidFill>
              <a:srgbClr val="40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l">
              <a:defRPr sz="800" b="1">
                <a:solidFill>
                  <a:srgbClr val="A78BFA"/>
                </a:solidFill>
                <a:latin typeface="Segoe UI"/>
              </a:defRPr>
            </a:pPr>
            <a:r>
              <a:t>COURSE</a:t>
            </a:r>
          </a:p>
          <a:p>
            <a:pPr algn="l">
              <a:spcBef>
                <a:spcPts val="1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Software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703320"/>
            <a:ext cx="3749039" cy="621792"/>
          </a:xfrm>
          <a:prstGeom prst="roundRect">
            <a:avLst/>
          </a:prstGeom>
          <a:solidFill>
            <a:srgbClr val="18122A"/>
          </a:solidFill>
          <a:ln w="12700">
            <a:solidFill>
              <a:srgbClr val="4C3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950" b="1">
                <a:solidFill>
                  <a:srgbClr val="D8B4FE"/>
                </a:solidFill>
                <a:latin typeface="Segoe UI"/>
              </a:defRPr>
            </a:pPr>
            <a:r>
              <a:rPr dirty="0"/>
              <a:t>🌐 Multilingual Translation</a:t>
            </a:r>
          </a:p>
          <a:p>
            <a:pPr>
              <a:spcBef>
                <a:spcPts val="100"/>
              </a:spcBef>
              <a:defRPr sz="850">
                <a:solidFill>
                  <a:srgbClr val="CBC3E3"/>
                </a:solidFill>
                <a:latin typeface="Segoe UI"/>
              </a:defRPr>
            </a:pPr>
            <a:r>
              <a:rPr dirty="0"/>
              <a:t>Converts classroom lessons into native mother tongues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379976"/>
            <a:ext cx="3749039" cy="621792"/>
          </a:xfrm>
          <a:prstGeom prst="roundRect">
            <a:avLst/>
          </a:prstGeom>
          <a:solidFill>
            <a:srgbClr val="18122A"/>
          </a:solidFill>
          <a:ln w="12700">
            <a:solidFill>
              <a:srgbClr val="4C3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950" b="1">
                <a:solidFill>
                  <a:srgbClr val="D8B4FE"/>
                </a:solidFill>
                <a:latin typeface="Segoe UI"/>
              </a:defRPr>
            </a:pPr>
            <a:r>
              <a:t>🎙️ Voice &amp; Pronunciation</a:t>
            </a:r>
          </a:p>
          <a:p>
            <a:pPr>
              <a:spcBef>
                <a:spcPts val="100"/>
              </a:spcBef>
              <a:defRPr sz="850">
                <a:solidFill>
                  <a:srgbClr val="CBC3E3"/>
                </a:solidFill>
                <a:latin typeface="Segoe UI"/>
              </a:defRPr>
            </a:pPr>
            <a:r>
              <a:t>Audio playback and speech practice for primary learners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5056632"/>
            <a:ext cx="3749039" cy="621792"/>
          </a:xfrm>
          <a:prstGeom prst="roundRect">
            <a:avLst/>
          </a:prstGeom>
          <a:solidFill>
            <a:srgbClr val="18122A"/>
          </a:solidFill>
          <a:ln w="12700">
            <a:solidFill>
              <a:srgbClr val="4C3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950" b="1">
                <a:solidFill>
                  <a:srgbClr val="D8B4FE"/>
                </a:solidFill>
                <a:latin typeface="Segoe UI"/>
              </a:defRPr>
            </a:pPr>
            <a:r>
              <a:t>📝 Learning Worksheets</a:t>
            </a:r>
          </a:p>
          <a:p>
            <a:pPr>
              <a:spcBef>
                <a:spcPts val="100"/>
              </a:spcBef>
              <a:defRPr sz="850">
                <a:solidFill>
                  <a:srgbClr val="CBC3E3"/>
                </a:solidFill>
                <a:latin typeface="Segoe UI"/>
              </a:defRPr>
            </a:pPr>
            <a:r>
              <a:t>Generates printable practice sheets and bilingual flashcards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30352"/>
            <a:ext cx="10698480" cy="3693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B1526"/>
                </a:solidFill>
                <a:latin typeface="Segoe U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Vision, Problem Statement &amp; Stakeholder Ecosystem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120640" cy="402336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tlCol="0" anchor="ctr"/>
          <a:lstStyle/>
          <a:p>
            <a:pPr algn="ctr">
              <a:defRPr sz="1100" b="1">
                <a:solidFill>
                  <a:srgbClr val="7C3AED"/>
                </a:solidFill>
                <a:latin typeface="Segoe U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764792"/>
            <a:ext cx="4791456" cy="1975926"/>
          </a:xfrm>
          <a:prstGeom prst="rect">
            <a:avLst/>
          </a:prstGeom>
          <a:noFill/>
        </p:spPr>
        <p:txBody>
          <a:bodyPr wrap="square" lIns="0" tIns="36576" rIns="0" bIns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barriers make lessons difficult for primary school students.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need simple tools to support multilingual classrooms.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AI-powered translation, voice support, and practice materials.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20640" cy="40233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tlCol="0" anchor="ctr"/>
          <a:lstStyle/>
          <a:p>
            <a:pPr algn="ctr">
              <a:defRPr sz="1100" b="1">
                <a:solidFill>
                  <a:srgbClr val="4F46E5"/>
                </a:solidFill>
                <a:latin typeface="Segoe U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Core Project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279392"/>
            <a:ext cx="4791456" cy="1698927"/>
          </a:xfrm>
          <a:prstGeom prst="rect">
            <a:avLst/>
          </a:prstGeom>
          <a:noFill/>
        </p:spPr>
        <p:txBody>
          <a:bodyPr wrap="square" lIns="0" tIns="36576" rIns="0" bIns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translate classroom lessons into students’ mother tongues.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pronunciation through audio playback and voice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localized worksheets and bilingual vocabulary flashcards.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325880"/>
            <a:ext cx="539496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35040" y="1325880"/>
            <a:ext cx="5394960" cy="402336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tlCol="0" anchor="ctr"/>
          <a:lstStyle/>
          <a:p>
            <a:pPr algn="ctr">
              <a:defRPr sz="1100" b="1">
                <a:solidFill>
                  <a:srgbClr val="0D9488"/>
                </a:solidFill>
                <a:latin typeface="Segoe U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Stakeholder Identification &amp; Educational Roles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811DF3-7734-466A-8290-B03E40172D1A}"/>
              </a:ext>
            </a:extLst>
          </p:cNvPr>
          <p:cNvSpPr txBox="1"/>
          <p:nvPr/>
        </p:nvSpPr>
        <p:spPr>
          <a:xfrm>
            <a:off x="6095847" y="1880951"/>
            <a:ext cx="53949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lessons and practise vocabulary in their mother tongue.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lessons and prepare worksheets and flashcards.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children's learning and homework at home.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Administrators: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system adoption and ensure curriculum alignment.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Curriculum Developers: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suitable educational content for different grade levels.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Translators / Language Experts: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translations for accuracy and correct language usage.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Developers: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Develop, maintain, and improve the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"/>
            <a:ext cx="106984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B1526"/>
                </a:solidFill>
                <a:latin typeface="Segoe UI"/>
              </a:defRPr>
            </a:pPr>
            <a:r>
              <a:rPr dirty="0"/>
              <a:t>Product Backlog: Four Core Epics &amp; Structured User Stories</a:t>
            </a: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56CD6AF4-5996-57DC-4433-15DB4CB69EE9}"/>
              </a:ext>
            </a:extLst>
          </p:cNvPr>
          <p:cNvSpPr/>
          <p:nvPr/>
        </p:nvSpPr>
        <p:spPr>
          <a:xfrm>
            <a:off x="136345" y="1226450"/>
            <a:ext cx="5959502" cy="532220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046752-0128-51B3-CF93-BD8F8D1C01EF}"/>
              </a:ext>
            </a:extLst>
          </p:cNvPr>
          <p:cNvSpPr txBox="1"/>
          <p:nvPr/>
        </p:nvSpPr>
        <p:spPr>
          <a:xfrm>
            <a:off x="324373" y="1608842"/>
            <a:ext cx="5812403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— Multilingual Content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lessons understandable in native languages.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US-01 | Student: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a mother tongue for learning.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US-02 | Teacher: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Translate classroom lessons into regional languages.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— Speech-Based Learning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listening and speaking practice.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US-03 | Student: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Listen to translated lessons through audio.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US-04 | Student: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voice input to practise speaking.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</a:t>
            </a:r>
          </a:p>
          <a:p>
            <a:endParaRPr lang="en-IN" dirty="0"/>
          </a:p>
        </p:txBody>
      </p:sp>
      <p:sp>
        <p:nvSpPr>
          <p:cNvPr id="27" name="Rounded Rectangle 8">
            <a:extLst>
              <a:ext uri="{FF2B5EF4-FFF2-40B4-BE49-F238E27FC236}">
                <a16:creationId xmlns:a16="http://schemas.microsoft.com/office/drawing/2014/main" id="{AC425DCB-F14D-8682-4351-074DD650A724}"/>
              </a:ext>
            </a:extLst>
          </p:cNvPr>
          <p:cNvSpPr/>
          <p:nvPr/>
        </p:nvSpPr>
        <p:spPr>
          <a:xfrm>
            <a:off x="6354569" y="1226450"/>
            <a:ext cx="5701086" cy="532220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5E4547-979C-5B87-6F2B-8D91589B59AF}"/>
              </a:ext>
            </a:extLst>
          </p:cNvPr>
          <p:cNvSpPr txBox="1"/>
          <p:nvPr/>
        </p:nvSpPr>
        <p:spPr>
          <a:xfrm>
            <a:off x="6567320" y="1591772"/>
            <a:ext cx="5812403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 — Interactive Study Resources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learning more engaging.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US-05 | Teacher: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printable worksheets for lessons.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US-06 | Student: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Revise vocabulary using bilingual flashcards.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MEDIUM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— Learning Library &amp; Feedback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users reuse and improve learning materials.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US-07 | Student: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 lessons for later revision.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US-08 | Teacher: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 translation errors for correction.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MEDIUM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30352"/>
            <a:ext cx="106984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B1526"/>
                </a:solidFill>
                <a:latin typeface="Segoe UI"/>
              </a:defRPr>
            </a:pPr>
            <a:r>
              <a:t>Measurable Acceptance Criteria &amp; Quality Testing Checklist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72306"/>
              </p:ext>
            </p:extLst>
          </p:nvPr>
        </p:nvGraphicFramePr>
        <p:xfrm>
          <a:off x="596348" y="1290099"/>
          <a:ext cx="11338560" cy="5126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5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43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Acceptance Criteria (Measurable)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Verification &amp; Testing Strategy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43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Translation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(Lesson Text)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73044"/>
                          </a:solidFill>
                          <a:latin typeface="Segoe UI"/>
                        </a:defRPr>
                      </a:pP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Displays translated text in selected mother tongue.</a:t>
                      </a:r>
                      <a:b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Response time under 2.0s for typical primary lesson paragraphs.</a:t>
                      </a:r>
                      <a:b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Displays friendly validation prompt if input is empty or invalid.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73044"/>
                          </a:solidFill>
                          <a:latin typeface="Segoe UI"/>
                        </a:defRPr>
                      </a:pP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Functional testing with bilingual sample texts.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Character encoding &amp; script rendering test.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Empty string and boundary condition tests.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43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 Learning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(Speech &amp; TTS)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73044"/>
                          </a:solidFill>
                          <a:latin typeface="Segoe UI"/>
                        </a:defRPr>
                      </a:pP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Plays audible, natural text-to-speech for supported regional text.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Captures speech input via microphone with clear active indicator.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Shows clear alert if audio input is unavailable.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73044"/>
                          </a:solidFill>
                          <a:latin typeface="Segoe UI"/>
                        </a:defRPr>
                      </a:pP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Audio playback latency and clarity testing.</a:t>
                      </a:r>
                      <a:b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Speech recognition accuracy against word list.</a:t>
                      </a:r>
                      <a:b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Device microphone permissions handling test.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43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Worksheets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(Learning Assets)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73044"/>
                          </a:solidFill>
                          <a:latin typeface="Segoe UI"/>
                        </a:defRPr>
                      </a:pP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Generates downloadable, printable learning worksheets.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Creates bilingual vocabulary flashcards with terms and translations.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Visual layout is legible and tailored for primary school children.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73044"/>
                          </a:solidFill>
                          <a:latin typeface="Segoe UI"/>
                        </a:defRPr>
                      </a:pP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Export file generation test (HTML/PDF format).</a:t>
                      </a:r>
                      <a:b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Flashcard rendering and card-flip logic test.</a:t>
                      </a:r>
                      <a:b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Visual inspection of primary font sizing.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443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Saving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(Local Storage)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73044"/>
                          </a:solidFill>
                          <a:latin typeface="Segoe UI"/>
                        </a:defRPr>
                      </a:pP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Allows users to save translated lessons and practice items locally.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Successfully retrieves saved items across sessions without data loss.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Allows users to view and delete saved lesson records.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73044"/>
                          </a:solidFill>
                          <a:latin typeface="Segoe UI"/>
                        </a:defRPr>
                      </a:pP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SQLite persistence and retrieval tests.</a:t>
                      </a:r>
                      <a:b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Session restart state-retention verification.</a:t>
                      </a:r>
                      <a:b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Empty-state and database edge case testing.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443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Feedback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(Quality Input)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73044"/>
                          </a:solidFill>
                          <a:latin typeface="Segoe UI"/>
                        </a:defRPr>
                      </a:pP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Records user feedback and translation ratings successfully.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Logs timestamp, language pair, and teacher correction notes.</a:t>
                      </a:r>
                      <a:b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Shows clear confirmation message upon successful submission.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73044"/>
                          </a:solidFill>
                          <a:latin typeface="Segoe UI"/>
                        </a:defRPr>
                      </a:pP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Form validation and feedback logging tests.</a:t>
                      </a:r>
                      <a:b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SQLite insertion and data integrity checks.</a:t>
                      </a:r>
                      <a:b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Network disconnection and error state tests.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30352"/>
            <a:ext cx="10698480" cy="3693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B1526"/>
                </a:solidFill>
                <a:latin typeface="Segoe UI"/>
              </a:defRPr>
            </a:pPr>
            <a:r>
              <a:rPr lang="en-IN" sz="2100" b="1" dirty="0">
                <a:solidFill>
                  <a:srgbClr val="1B1526"/>
                </a:solidFill>
                <a:latin typeface="Segoe UI"/>
              </a:rPr>
              <a:t>Feature Priorities &amp; Six-Week Development Roadmap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1C2319-5156-B8B7-732C-B378E949669F}"/>
              </a:ext>
            </a:extLst>
          </p:cNvPr>
          <p:cNvSpPr txBox="1"/>
          <p:nvPr/>
        </p:nvSpPr>
        <p:spPr>
          <a:xfrm>
            <a:off x="675860" y="1542552"/>
            <a:ext cx="4420926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 — Essential Features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lessons into selected languages.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source and target languages.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inputs and handle errors.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 — Learning Support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translated text as audio.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microphone-based voice input.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 — Practice Resources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printable worksheets.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bilingual vocabulary flashcards.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lessons and collect feedback.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5C9187-70C1-0F88-E336-D5B20155AD3D}"/>
              </a:ext>
            </a:extLst>
          </p:cNvPr>
          <p:cNvSpPr txBox="1"/>
          <p:nvPr/>
        </p:nvSpPr>
        <p:spPr>
          <a:xfrm>
            <a:off x="6175513" y="1388706"/>
            <a:ext cx="56321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1–2 | Requirements &amp; Planning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student and teacher needs.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system requirements and test plans.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Requirements specification.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3–4 | Design &amp; Implementation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interface and database.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translation and voice features.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 application prototype.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5–6 | Verification &amp; Validation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individual features and system integration.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functionality against requirements.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report and improved prototype.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30352"/>
            <a:ext cx="10698480" cy="41549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B1526"/>
                </a:solidFill>
                <a:latin typeface="Segoe UI"/>
              </a:defRPr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Effort Estimation &amp; Planned Project Deliverables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51206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5120640" cy="402336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tlCol="0" anchor="ctr"/>
          <a:lstStyle/>
          <a:p>
            <a:pPr algn="ctr">
              <a:defRPr sz="1100" b="1">
                <a:solidFill>
                  <a:srgbClr val="7C3AED"/>
                </a:solidFill>
                <a:latin typeface="Segoe UI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Effort Estimation (Total: 21 Story Points)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21992"/>
            <a:ext cx="4791456" cy="344710"/>
          </a:xfrm>
          <a:prstGeom prst="rect">
            <a:avLst/>
          </a:prstGeom>
          <a:noFill/>
        </p:spPr>
        <p:txBody>
          <a:bodyPr wrap="square" lIns="0" tIns="36576" rIns="0" bIns="0">
            <a:spAutoFit/>
          </a:bodyPr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94327"/>
              </p:ext>
            </p:extLst>
          </p:nvPr>
        </p:nvGraphicFramePr>
        <p:xfrm>
          <a:off x="868680" y="2511210"/>
          <a:ext cx="48463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605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/ Component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Story 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Relative Complexity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Translation Module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NLP &amp; API logic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 Module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TTS audio &amp; speech mic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Materials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Worksheets &amp; flashcards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Saving and Feedback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SQLite storage &amp; logging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605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 and 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526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&amp; V-Model suites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61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C3AED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Estimated Effort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C3AED"/>
                          </a:solidFill>
                          <a:latin typeface="Segoe UI"/>
                        </a:defRPr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C3AED"/>
                          </a:solidFill>
                          <a:latin typeface="Segoe UI"/>
                        </a:defRPr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Illustrative 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035040" y="17830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35040" y="1783080"/>
            <a:ext cx="5394960" cy="402336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tlCol="0" anchor="ctr"/>
          <a:lstStyle/>
          <a:p>
            <a:pPr algn="ctr">
              <a:defRPr sz="1100" b="1">
                <a:solidFill>
                  <a:srgbClr val="0D9488"/>
                </a:solidFill>
                <a:latin typeface="Segoe UI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Key Project Deliverables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67712"/>
            <a:ext cx="5029200" cy="877824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tlCol="0" anchor="ctr"/>
          <a:lstStyle/>
          <a:p>
            <a:pPr algn="ctr">
              <a:defRPr sz="1000" b="1">
                <a:solidFill>
                  <a:srgbClr val="7C3AED"/>
                </a:solidFill>
                <a:latin typeface="Segoe UI"/>
              </a:defRPr>
            </a:pPr>
            <a:r>
              <a:rPr sz="1050">
                <a:latin typeface="Times New Roman" panose="02020603050405020304" pitchFamily="18" charset="0"/>
                <a:cs typeface="Times New Roman" panose="02020603050405020304" pitchFamily="18" charset="0"/>
              </a:rPr>
              <a:t>💻 Working Application Prototype</a:t>
            </a:r>
          </a:p>
          <a:p>
            <a:pPr>
              <a:spcBef>
                <a:spcPts val="200"/>
              </a:spcBef>
              <a:defRPr sz="850">
                <a:solidFill>
                  <a:srgbClr val="373044"/>
                </a:solidFill>
                <a:latin typeface="Segoe UI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An operational web-based multilingual assistant demonstrating real-time lesson translation, speech recognition, and audio playback on a standard laptop.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36976"/>
            <a:ext cx="5029200" cy="87782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tlCol="0" anchor="ctr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rPr sz="1050">
                <a:latin typeface="Times New Roman" panose="02020603050405020304" pitchFamily="18" charset="0"/>
                <a:cs typeface="Times New Roman" panose="02020603050405020304" pitchFamily="18" charset="0"/>
              </a:rPr>
              <a:t>⚙️ Tested Core Features</a:t>
            </a:r>
          </a:p>
          <a:p>
            <a:pPr>
              <a:spcBef>
                <a:spcPts val="200"/>
              </a:spcBef>
              <a:defRPr sz="850">
                <a:solidFill>
                  <a:srgbClr val="373044"/>
                </a:solidFill>
                <a:latin typeface="Segoe UI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Thoroughly tested text translation, voice TTS, downloadable worksheets, interactive flashcards, and local saving components verified against acceptance criteria.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06240"/>
            <a:ext cx="5029200" cy="877824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tlCol="0" anchor="ctr"/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rPr sz="1050">
                <a:latin typeface="Times New Roman" panose="02020603050405020304" pitchFamily="18" charset="0"/>
                <a:cs typeface="Times New Roman" panose="02020603050405020304" pitchFamily="18" charset="0"/>
              </a:rPr>
              <a:t>🎨 Basic Child-Friendly User Interface</a:t>
            </a:r>
          </a:p>
          <a:p>
            <a:pPr>
              <a:spcBef>
                <a:spcPts val="200"/>
              </a:spcBef>
              <a:defRPr sz="850">
                <a:solidFill>
                  <a:srgbClr val="373044"/>
                </a:solidFill>
                <a:latin typeface="Segoe UI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An uncluttered, accessible, high-contrast interface designed specifically for primary school students and teachers with minimal cognitive load.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175504"/>
            <a:ext cx="5029200" cy="87782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tlCol="0" anchor="ctr"/>
          <a:lstStyle/>
          <a:p>
            <a:pPr algn="ctr">
              <a:defRPr sz="1000" b="1">
                <a:solidFill>
                  <a:srgbClr val="D97706"/>
                </a:solidFill>
                <a:latin typeface="Segoe UI"/>
              </a:defRPr>
            </a:pPr>
            <a:r>
              <a:rPr sz="1050">
                <a:latin typeface="Times New Roman" panose="02020603050405020304" pitchFamily="18" charset="0"/>
                <a:cs typeface="Times New Roman" panose="02020603050405020304" pitchFamily="18" charset="0"/>
              </a:rPr>
              <a:t>📑 Test Report &amp; Project Documentation</a:t>
            </a:r>
          </a:p>
          <a:p>
            <a:pPr>
              <a:spcBef>
                <a:spcPts val="200"/>
              </a:spcBef>
              <a:defRPr sz="850">
                <a:solidFill>
                  <a:srgbClr val="373044"/>
                </a:solidFill>
                <a:latin typeface="Segoe UI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V-Model documentation including requirement specifications, test matrices (unit, integration, system), and verification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30352"/>
            <a:ext cx="106984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B1526"/>
                </a:solidFill>
                <a:latin typeface="Segoe UI"/>
              </a:defRPr>
            </a:pPr>
            <a:r>
              <a:t>Software Engineering Methodology: V-Model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19072"/>
            <a:ext cx="3154680" cy="932688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050" b="1">
                <a:solidFill>
                  <a:srgbClr val="7C3AED"/>
                </a:solidFill>
                <a:latin typeface="Segoe UI"/>
              </a:defRPr>
            </a:pPr>
            <a:r>
              <a:t>1. Requirements Analysis</a:t>
            </a:r>
          </a:p>
          <a:p>
            <a:pPr>
              <a:spcBef>
                <a:spcPts val="200"/>
              </a:spcBef>
              <a:defRPr sz="850">
                <a:solidFill>
                  <a:srgbClr val="373044"/>
                </a:solidFill>
                <a:latin typeface="Segoe UI"/>
              </a:defRPr>
            </a:pPr>
            <a:r>
              <a:t>Analyze primary curricula, language pairs, student personas, and educational needs.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719072"/>
            <a:ext cx="3154680" cy="932688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050" b="1">
                <a:solidFill>
                  <a:srgbClr val="7C3AED"/>
                </a:solidFill>
                <a:latin typeface="Segoe UI"/>
              </a:defRPr>
            </a:pPr>
            <a:r>
              <a:t>Acceptance Testing</a:t>
            </a:r>
          </a:p>
          <a:p>
            <a:pPr>
              <a:spcBef>
                <a:spcPts val="200"/>
              </a:spcBef>
              <a:defRPr sz="850">
                <a:solidFill>
                  <a:srgbClr val="373044"/>
                </a:solidFill>
                <a:latin typeface="Segoe UI"/>
              </a:defRPr>
            </a:pPr>
            <a:r>
              <a:t>Validate against real classroom scenarios with teachers and primary students.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9352" y="2020824"/>
            <a:ext cx="427024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tlCol="0" anchor="ctr"/>
          <a:lstStyle/>
          <a:p>
            <a:pPr algn="ctr">
              <a:defRPr sz="800" b="1">
                <a:solidFill>
                  <a:srgbClr val="7C3AED"/>
                </a:solidFill>
                <a:latin typeface="Segoe UI"/>
              </a:defRPr>
            </a:pPr>
            <a:r>
              <a:t>⟷  Validates User &amp; Pedagogical Requirements  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2779776"/>
            <a:ext cx="3154680" cy="932688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050" b="1">
                <a:solidFill>
                  <a:srgbClr val="4F46E5"/>
                </a:solidFill>
                <a:latin typeface="Segoe UI"/>
              </a:defRPr>
            </a:pPr>
            <a:r>
              <a:t>2. System Design</a:t>
            </a:r>
          </a:p>
          <a:p>
            <a:pPr>
              <a:spcBef>
                <a:spcPts val="200"/>
              </a:spcBef>
              <a:defRPr sz="850">
                <a:solidFill>
                  <a:srgbClr val="373044"/>
                </a:solidFill>
                <a:latin typeface="Segoe UI"/>
              </a:defRPr>
            </a:pPr>
            <a:r>
              <a:t>Design system architecture, Flask backend, database schemas, and API integration paths.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4112" y="2779776"/>
            <a:ext cx="3154680" cy="932688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050" b="1">
                <a:solidFill>
                  <a:srgbClr val="4F46E5"/>
                </a:solidFill>
                <a:latin typeface="Segoe UI"/>
              </a:defRPr>
            </a:pPr>
            <a:r>
              <a:t>System Testing</a:t>
            </a:r>
          </a:p>
          <a:p>
            <a:pPr>
              <a:spcBef>
                <a:spcPts val="200"/>
              </a:spcBef>
              <a:defRPr sz="850">
                <a:solidFill>
                  <a:srgbClr val="373044"/>
                </a:solidFill>
                <a:latin typeface="Segoe UI"/>
              </a:defRPr>
            </a:pPr>
            <a:r>
              <a:t>Verify complete end-to-end workflows, response latency, and system stability.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7992" y="3081528"/>
            <a:ext cx="317296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tlCol="0" anchor="ctr"/>
          <a:lstStyle/>
          <a:p>
            <a:pPr algn="ctr">
              <a:defRPr sz="800" b="1">
                <a:solidFill>
                  <a:srgbClr val="4F46E5"/>
                </a:solidFill>
                <a:latin typeface="Segoe UI"/>
              </a:defRPr>
            </a:pPr>
            <a:r>
              <a:t>⟷  Verifies System Architecture &amp; Performance  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840480"/>
            <a:ext cx="3154680" cy="932688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050" b="1">
                <a:solidFill>
                  <a:srgbClr val="0D9488"/>
                </a:solidFill>
                <a:latin typeface="Segoe UI"/>
              </a:defRPr>
            </a:pPr>
            <a:r>
              <a:t>3. Module Design</a:t>
            </a:r>
          </a:p>
          <a:p>
            <a:pPr>
              <a:spcBef>
                <a:spcPts val="200"/>
              </a:spcBef>
              <a:defRPr sz="850">
                <a:solidFill>
                  <a:srgbClr val="373044"/>
                </a:solidFill>
                <a:latin typeface="Segoe UI"/>
              </a:defRPr>
            </a:pPr>
            <a:r>
              <a:t>Detail UI components, TTS audio pipelines, worksheet generators, and storage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5472" y="3840480"/>
            <a:ext cx="3154680" cy="932688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050" b="1">
                <a:solidFill>
                  <a:srgbClr val="0D9488"/>
                </a:solidFill>
                <a:latin typeface="Segoe UI"/>
              </a:defRPr>
            </a:pPr>
            <a:r>
              <a:t>Integration Testing</a:t>
            </a:r>
          </a:p>
          <a:p>
            <a:pPr>
              <a:spcBef>
                <a:spcPts val="200"/>
              </a:spcBef>
              <a:defRPr sz="850">
                <a:solidFill>
                  <a:srgbClr val="373044"/>
                </a:solidFill>
                <a:latin typeface="Segoe UI"/>
              </a:defRPr>
            </a:pPr>
            <a:r>
              <a:t>Test interfaces between translation API, TTS audio engine, and SQLite 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6632" y="4142232"/>
            <a:ext cx="207568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tlCol="0" anchor="ctr"/>
          <a:lstStyle/>
          <a:p>
            <a:pPr algn="ctr">
              <a:defRPr sz="800" b="1">
                <a:solidFill>
                  <a:srgbClr val="0D9488"/>
                </a:solidFill>
                <a:latin typeface="Segoe UI"/>
              </a:defRPr>
            </a:pPr>
            <a:r>
              <a:t>⟷  Verifies Module Interfaces &amp; Data Flow  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4901184"/>
            <a:ext cx="3154680" cy="93268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050" b="1">
                <a:solidFill>
                  <a:srgbClr val="1B1526"/>
                </a:solidFill>
                <a:latin typeface="Segoe UI"/>
              </a:defRPr>
            </a:pPr>
            <a:r>
              <a:t>4. Coding (Implementation)</a:t>
            </a:r>
          </a:p>
          <a:p>
            <a:pPr>
              <a:spcBef>
                <a:spcPts val="200"/>
              </a:spcBef>
              <a:defRPr sz="850">
                <a:solidFill>
                  <a:srgbClr val="373044"/>
                </a:solidFill>
                <a:latin typeface="Segoe UI"/>
              </a:defRPr>
            </a:pPr>
            <a:r>
              <a:t>Write clean Python/Flask code, templates, and SQLite database interaction scripts.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56832" y="4901184"/>
            <a:ext cx="3154680" cy="93268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050" b="1">
                <a:solidFill>
                  <a:srgbClr val="1B1526"/>
                </a:solidFill>
                <a:latin typeface="Segoe UI"/>
              </a:defRPr>
            </a:pPr>
            <a:r>
              <a:t>Unit Testing</a:t>
            </a:r>
          </a:p>
          <a:p>
            <a:pPr>
              <a:spcBef>
                <a:spcPts val="200"/>
              </a:spcBef>
              <a:defRPr sz="850">
                <a:solidFill>
                  <a:srgbClr val="373044"/>
                </a:solidFill>
                <a:latin typeface="Segoe UI"/>
              </a:defRPr>
            </a:pPr>
            <a:r>
              <a:t>Test individual functions, text parsing routines, and input validation algorithms.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05272" y="5202936"/>
            <a:ext cx="9784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tlCol="0" anchor="ctr"/>
          <a:lstStyle/>
          <a:p>
            <a:pPr algn="ctr">
              <a:defRPr sz="800" b="1">
                <a:solidFill>
                  <a:srgbClr val="1B1526"/>
                </a:solidFill>
                <a:latin typeface="Segoe UI"/>
              </a:defRPr>
            </a:pPr>
            <a:r>
              <a:t>⟷  Verifies Code Logic &amp; Unit Correctness  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30352"/>
            <a:ext cx="1069848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B1526"/>
                </a:solidFill>
                <a:latin typeface="Segoe UI"/>
              </a:defRPr>
            </a:pPr>
            <a:r>
              <a:rPr dirty="0"/>
              <a:t>Software Engineering Tools &amp; Expected Project Outcomes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1E5F2A-5872-BFF1-B7D7-9814C0E10812}"/>
              </a:ext>
            </a:extLst>
          </p:cNvPr>
          <p:cNvSpPr txBox="1"/>
          <p:nvPr/>
        </p:nvSpPr>
        <p:spPr>
          <a:xfrm>
            <a:off x="564542" y="1601393"/>
            <a:ext cx="6162261" cy="3089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Tools</a:t>
            </a:r>
          </a:p>
          <a:p>
            <a:pPr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development and processing.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 development.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Figma: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interface design.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saved lessons and feedback.</a:t>
            </a:r>
          </a:p>
          <a:p>
            <a:pPr lvl="0">
              <a:lnSpc>
                <a:spcPct val="150000"/>
              </a:lnSpc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application features.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management and collaboration.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FE82F7-8631-EF2E-B4EF-57289A04044D}"/>
              </a:ext>
            </a:extLst>
          </p:cNvPr>
          <p:cNvSpPr txBox="1"/>
          <p:nvPr/>
        </p:nvSpPr>
        <p:spPr>
          <a:xfrm>
            <a:off x="6154309" y="1299092"/>
            <a:ext cx="5637476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Project Outcomes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Learning: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can access lessons in their mother tongue.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Learners can listen to translated text and practise pronunciation.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Resources: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Teachers can prepare worksheets and vocabulary flashcards.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Revision: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 save learning materials for later use.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Accessibility: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students from different language backgrounds.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1324</Words>
  <Application>Microsoft Office PowerPoint</Application>
  <PresentationFormat>Widescreen</PresentationFormat>
  <Paragraphs>166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 Anjaneya Dadiboyena</dc:creator>
  <cp:keywords/>
  <dc:description>generated using python-pptx</dc:description>
  <cp:lastModifiedBy>Sri Anjaneya Dadiboyena</cp:lastModifiedBy>
  <cp:revision>2</cp:revision>
  <dcterms:created xsi:type="dcterms:W3CDTF">2013-01-27T09:14:16Z</dcterms:created>
  <dcterms:modified xsi:type="dcterms:W3CDTF">2026-10-13T16:20:16Z</dcterms:modified>
  <cp:category/>
</cp:coreProperties>
</file>